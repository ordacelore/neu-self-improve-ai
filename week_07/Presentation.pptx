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433466" y="774700"/>
            <a:ext cx="11759988" cy="157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 algn="ctr">
              <a:defRPr b="1" sz="3600">
                <a:solidFill>
                  <a:srgbClr val="00B0F0"/>
                </a:solidFill>
              </a:defRPr>
            </a:pPr>
            <a:r>
              <a:t>RAGEN + A★PO: Self-Evolving Language Agents via Stable Reinforcement Learning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3078179" y="2834729"/>
            <a:ext cx="5842582" cy="632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Week 7 Presentation – Reinforcement Learning Systems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3976370" y="3949700"/>
            <a:ext cx="4046201" cy="1659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 algn="ctr">
              <a:defRPr b="1" sz="2000">
                <a:solidFill>
                  <a:srgbClr val="FFFFFF"/>
                </a:solidFill>
              </a:defRPr>
            </a:pPr>
            <a:r>
              <a:t>Ordace Lore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Master of Science in Information Systems</a:t>
            </a:r>
            <a:br/>
            <a:r>
              <a:t>Northeastern University – Silicon Valley Campus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Instructor: Prof. Suhabe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 txBox="1"/>
          <p:nvPr/>
        </p:nvSpPr>
        <p:spPr>
          <a:xfrm>
            <a:off x="777239" y="457200"/>
            <a:ext cx="9175588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RAGEN with A*PO: Self-Evolution in LLM Agents</a:t>
            </a:r>
          </a:p>
        </p:txBody>
      </p:sp>
      <p:sp>
        <p:nvSpPr>
          <p:cNvPr id="99" name="TextBox 2"/>
          <p:cNvSpPr txBox="1"/>
          <p:nvPr/>
        </p:nvSpPr>
        <p:spPr>
          <a:xfrm>
            <a:off x="960119" y="1554480"/>
            <a:ext cx="8480808" cy="1546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Goal: Enable LLM agents to self-evolve through multi-turn reinforcement learning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Innovation: Integration of A* Policy Optimization (A*PO) instead of PPO/GRPO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Benchmarks: FrozenLake and WebShop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Key Feature: Multi-turn reasoning and self-evolution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777239" y="457200"/>
            <a:ext cx="5358593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RAGEN System Architecture</a:t>
            </a:r>
          </a:p>
        </p:txBody>
      </p:sp>
      <p:grpSp>
        <p:nvGrpSpPr>
          <p:cNvPr id="104" name="Rectangle 2"/>
          <p:cNvGrpSpPr/>
          <p:nvPr/>
        </p:nvGrpSpPr>
        <p:grpSpPr>
          <a:xfrm>
            <a:off x="1828800" y="1828800"/>
            <a:ext cx="8229600" cy="2743200"/>
            <a:chOff x="0" y="0"/>
            <a:chExt cx="8229600" cy="2743200"/>
          </a:xfrm>
        </p:grpSpPr>
        <p:sp>
          <p:nvSpPr>
            <p:cNvPr id="102" name="Rectangle"/>
            <p:cNvSpPr/>
            <p:nvPr/>
          </p:nvSpPr>
          <p:spPr>
            <a:xfrm>
              <a:off x="0" y="0"/>
              <a:ext cx="8229600" cy="2743200"/>
            </a:xfrm>
            <a:prstGeom prst="rect">
              <a:avLst/>
            </a:prstGeom>
            <a:solidFill>
              <a:srgbClr val="28283C"/>
            </a:solidFill>
            <a:ln w="9525" cap="flat">
              <a:solidFill>
                <a:srgbClr val="50A0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E6E6E6"/>
                  </a:solidFill>
                </a:defRPr>
              </a:pPr>
            </a:p>
          </p:txBody>
        </p:sp>
        <p:sp>
          <p:nvSpPr>
            <p:cNvPr id="103" name="Environment → Tokenizer → RAGEN Agent (Policy, Value, Evolution Heads) → A*PO Optimizer → Updated Policy"/>
            <p:cNvSpPr txBox="1"/>
            <p:nvPr/>
          </p:nvSpPr>
          <p:spPr>
            <a:xfrm>
              <a:off x="50482" y="1059006"/>
              <a:ext cx="8128636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E6E6E6"/>
                  </a:solidFill>
                </a:defRPr>
              </a:lvl1pPr>
            </a:lstStyle>
            <a:p>
              <a:pPr/>
              <a:r>
                <a:t>Environment → Tokenizer → RAGEN Agent (Policy, Value, Evolution Heads) → A*PO Optimizer → Updated Policy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777239" y="457200"/>
            <a:ext cx="5771368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A*PO Integration with RAGEN</a:t>
            </a:r>
          </a:p>
        </p:txBody>
      </p:sp>
      <p:sp>
        <p:nvSpPr>
          <p:cNvPr id="107" name="TextBox 2"/>
          <p:cNvSpPr txBox="1"/>
          <p:nvPr/>
        </p:nvSpPr>
        <p:spPr>
          <a:xfrm>
            <a:off x="960119" y="1554480"/>
            <a:ext cx="5785779" cy="1546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Collect multi-turn trajectories (obs, act, reward)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Compute advantages using optimal regression and GAE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KL-regularized policy updates stabilize learning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Evolution head generates improvement signals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 txBox="1"/>
          <p:nvPr/>
        </p:nvSpPr>
        <p:spPr>
          <a:xfrm>
            <a:off x="777239" y="457200"/>
            <a:ext cx="3661952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Training Loop Flow</a:t>
            </a:r>
          </a:p>
        </p:txBody>
      </p:sp>
      <p:grpSp>
        <p:nvGrpSpPr>
          <p:cNvPr id="112" name="Rectangle 2"/>
          <p:cNvGrpSpPr/>
          <p:nvPr/>
        </p:nvGrpSpPr>
        <p:grpSpPr>
          <a:xfrm>
            <a:off x="1828800" y="1828800"/>
            <a:ext cx="8229600" cy="2743200"/>
            <a:chOff x="0" y="0"/>
            <a:chExt cx="8229600" cy="2743200"/>
          </a:xfrm>
        </p:grpSpPr>
        <p:sp>
          <p:nvSpPr>
            <p:cNvPr id="110" name="Rectangle"/>
            <p:cNvSpPr/>
            <p:nvPr/>
          </p:nvSpPr>
          <p:spPr>
            <a:xfrm>
              <a:off x="0" y="0"/>
              <a:ext cx="8229600" cy="2743200"/>
            </a:xfrm>
            <a:prstGeom prst="rect">
              <a:avLst/>
            </a:prstGeom>
            <a:solidFill>
              <a:srgbClr val="28283C"/>
            </a:solidFill>
            <a:ln w="9525" cap="flat">
              <a:solidFill>
                <a:srgbClr val="50A0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E6E6E6"/>
                  </a:solidFill>
                </a:defRPr>
              </a:pPr>
            </a:p>
          </p:txBody>
        </p:sp>
        <p:sp>
          <p:nvSpPr>
            <p:cNvPr id="111" name="Env Reset → Observe → Policy → Act → Reward → Store → Advantage → A*PO Update → Repeat"/>
            <p:cNvSpPr txBox="1"/>
            <p:nvPr/>
          </p:nvSpPr>
          <p:spPr>
            <a:xfrm>
              <a:off x="50482" y="1059006"/>
              <a:ext cx="8128636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E6E6E6"/>
                  </a:solidFill>
                </a:defRPr>
              </a:lvl1pPr>
            </a:lstStyle>
            <a:p>
              <a:pPr/>
              <a:r>
                <a:t>Env Reset → Observe → Policy → Act → Reward → Store → Advantage → A*PO Update → Repeat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 txBox="1"/>
          <p:nvPr/>
        </p:nvSpPr>
        <p:spPr>
          <a:xfrm>
            <a:off x="777239" y="457200"/>
            <a:ext cx="3381337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Results Summary</a:t>
            </a:r>
          </a:p>
        </p:txBody>
      </p:sp>
      <p:sp>
        <p:nvSpPr>
          <p:cNvPr id="115" name="TextBox 2"/>
          <p:cNvSpPr txBox="1"/>
          <p:nvPr/>
        </p:nvSpPr>
        <p:spPr>
          <a:xfrm>
            <a:off x="960119" y="1554480"/>
            <a:ext cx="4894795" cy="1546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FrozenLake Success: 68% (+56% improvement)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WebShop Success: 72% (+54% improvement)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A*PO converges faster than PPO/GRPO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Training time: ~6 hours (single GPU)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777239" y="457200"/>
            <a:ext cx="4843350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Failure Cases &amp; Solutions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960119" y="1554480"/>
            <a:ext cx="7443600" cy="93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FrozenLake: Falls into holes or loops → add negative rewards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WebShop: Fails checkout or exceeds budget → improve reward shaping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 txBox="1"/>
          <p:nvPr/>
        </p:nvSpPr>
        <p:spPr>
          <a:xfrm>
            <a:off x="777239" y="457200"/>
            <a:ext cx="2478322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Future Work</a:t>
            </a:r>
          </a:p>
        </p:txBody>
      </p:sp>
      <p:sp>
        <p:nvSpPr>
          <p:cNvPr id="121" name="TextBox 2"/>
          <p:cNvSpPr txBox="1"/>
          <p:nvPr/>
        </p:nvSpPr>
        <p:spPr>
          <a:xfrm>
            <a:off x="960119" y="1554480"/>
            <a:ext cx="5255207" cy="1546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Enhance self-evolution via meta-learning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Scale to complex environments (WebArena, etc.)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Integrate full A* search for trajectory optimization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Transfer learning across environments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 txBox="1"/>
          <p:nvPr/>
        </p:nvSpPr>
        <p:spPr>
          <a:xfrm>
            <a:off x="777239" y="457200"/>
            <a:ext cx="2172034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Conclusion</a:t>
            </a:r>
          </a:p>
        </p:txBody>
      </p:sp>
      <p:sp>
        <p:nvSpPr>
          <p:cNvPr id="124" name="TextBox 2"/>
          <p:cNvSpPr txBox="1"/>
          <p:nvPr/>
        </p:nvSpPr>
        <p:spPr>
          <a:xfrm>
            <a:off x="960119" y="1554480"/>
            <a:ext cx="6590195" cy="1546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sz="2000">
                <a:solidFill>
                  <a:srgbClr val="E6E6E6"/>
                </a:solidFill>
              </a:defRPr>
            </a:pPr>
            <a:r>
              <a:t>RAGEN + A*PO achieves faster convergence and higher success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Self-evolution enables cumulative reasoning improvement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Multi-turn RL is critical for long-horizon tasks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A*PO provides stable, advantage-based optimization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 txBox="1"/>
          <p:nvPr/>
        </p:nvSpPr>
        <p:spPr>
          <a:xfrm>
            <a:off x="777239" y="457200"/>
            <a:ext cx="5645013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System Integration (Detailed)</a:t>
            </a:r>
          </a:p>
        </p:txBody>
      </p:sp>
      <p:grpSp>
        <p:nvGrpSpPr>
          <p:cNvPr id="129" name="Rectangle 2"/>
          <p:cNvGrpSpPr/>
          <p:nvPr/>
        </p:nvGrpSpPr>
        <p:grpSpPr>
          <a:xfrm>
            <a:off x="914399" y="1828800"/>
            <a:ext cx="2103122" cy="1828800"/>
            <a:chOff x="0" y="0"/>
            <a:chExt cx="2103120" cy="1828800"/>
          </a:xfrm>
        </p:grpSpPr>
        <p:sp>
          <p:nvSpPr>
            <p:cNvPr id="127" name="Rectangle"/>
            <p:cNvSpPr/>
            <p:nvPr/>
          </p:nvSpPr>
          <p:spPr>
            <a:xfrm>
              <a:off x="-1" y="0"/>
              <a:ext cx="2103122" cy="1828800"/>
            </a:xfrm>
            <a:prstGeom prst="rect">
              <a:avLst/>
            </a:prstGeom>
            <a:solidFill>
              <a:srgbClr val="28283C"/>
            </a:solidFill>
            <a:ln w="9525" cap="flat">
              <a:solidFill>
                <a:srgbClr val="50A0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>
                  <a:solidFill>
                    <a:srgbClr val="E6E6E6"/>
                  </a:solidFill>
                </a:defRPr>
              </a:pPr>
            </a:p>
          </p:txBody>
        </p:sp>
        <p:sp>
          <p:nvSpPr>
            <p:cNvPr id="128" name="Environment"/>
            <p:cNvSpPr txBox="1"/>
            <p:nvPr/>
          </p:nvSpPr>
          <p:spPr>
            <a:xfrm>
              <a:off x="50482" y="764103"/>
              <a:ext cx="200215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1600">
                  <a:solidFill>
                    <a:srgbClr val="E6E6E6"/>
                  </a:solidFill>
                </a:defRPr>
              </a:lvl1pPr>
            </a:lstStyle>
            <a:p>
              <a:pPr/>
              <a:r>
                <a:t>Environment</a:t>
              </a:r>
            </a:p>
          </p:txBody>
        </p:sp>
      </p:grpSp>
      <p:grpSp>
        <p:nvGrpSpPr>
          <p:cNvPr id="132" name="Rectangle 3"/>
          <p:cNvGrpSpPr/>
          <p:nvPr/>
        </p:nvGrpSpPr>
        <p:grpSpPr>
          <a:xfrm>
            <a:off x="3200399" y="1828800"/>
            <a:ext cx="2103122" cy="1828800"/>
            <a:chOff x="0" y="0"/>
            <a:chExt cx="2103120" cy="1828800"/>
          </a:xfrm>
        </p:grpSpPr>
        <p:sp>
          <p:nvSpPr>
            <p:cNvPr id="130" name="Rectangle"/>
            <p:cNvSpPr/>
            <p:nvPr/>
          </p:nvSpPr>
          <p:spPr>
            <a:xfrm>
              <a:off x="-1" y="0"/>
              <a:ext cx="2103122" cy="1828800"/>
            </a:xfrm>
            <a:prstGeom prst="rect">
              <a:avLst/>
            </a:prstGeom>
            <a:solidFill>
              <a:srgbClr val="28283C"/>
            </a:solidFill>
            <a:ln w="9525" cap="flat">
              <a:solidFill>
                <a:srgbClr val="50A0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>
                  <a:solidFill>
                    <a:srgbClr val="E6E6E6"/>
                  </a:solidFill>
                </a:defRPr>
              </a:pPr>
            </a:p>
          </p:txBody>
        </p:sp>
        <p:sp>
          <p:nvSpPr>
            <p:cNvPr id="131" name="Tokenizer"/>
            <p:cNvSpPr txBox="1"/>
            <p:nvPr/>
          </p:nvSpPr>
          <p:spPr>
            <a:xfrm>
              <a:off x="50482" y="764103"/>
              <a:ext cx="200215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1600">
                  <a:solidFill>
                    <a:srgbClr val="E6E6E6"/>
                  </a:solidFill>
                </a:defRPr>
              </a:lvl1pPr>
            </a:lstStyle>
            <a:p>
              <a:pPr/>
              <a:r>
                <a:t>Tokenizer</a:t>
              </a:r>
            </a:p>
          </p:txBody>
        </p:sp>
      </p:grpSp>
      <p:grpSp>
        <p:nvGrpSpPr>
          <p:cNvPr id="135" name="Rectangle 4"/>
          <p:cNvGrpSpPr/>
          <p:nvPr/>
        </p:nvGrpSpPr>
        <p:grpSpPr>
          <a:xfrm>
            <a:off x="5486399" y="1828800"/>
            <a:ext cx="2103122" cy="1828800"/>
            <a:chOff x="0" y="0"/>
            <a:chExt cx="2103120" cy="1828800"/>
          </a:xfrm>
        </p:grpSpPr>
        <p:sp>
          <p:nvSpPr>
            <p:cNvPr id="133" name="Rectangle"/>
            <p:cNvSpPr/>
            <p:nvPr/>
          </p:nvSpPr>
          <p:spPr>
            <a:xfrm>
              <a:off x="-1" y="0"/>
              <a:ext cx="2103122" cy="1828800"/>
            </a:xfrm>
            <a:prstGeom prst="rect">
              <a:avLst/>
            </a:prstGeom>
            <a:solidFill>
              <a:srgbClr val="28283C"/>
            </a:solidFill>
            <a:ln w="9525" cap="flat">
              <a:solidFill>
                <a:srgbClr val="50A0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RAGEN Agent…"/>
            <p:cNvSpPr txBox="1"/>
            <p:nvPr/>
          </p:nvSpPr>
          <p:spPr>
            <a:xfrm>
              <a:off x="50482" y="474806"/>
              <a:ext cx="2002156" cy="879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E6E6E6"/>
                  </a:solidFill>
                </a:defRPr>
              </a:pPr>
              <a:r>
                <a:t>RAGEN Agent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(Policy, Value, Evolution)</a:t>
              </a:r>
            </a:p>
          </p:txBody>
        </p:sp>
      </p:grpSp>
      <p:grpSp>
        <p:nvGrpSpPr>
          <p:cNvPr id="138" name="Rectangle 5"/>
          <p:cNvGrpSpPr/>
          <p:nvPr/>
        </p:nvGrpSpPr>
        <p:grpSpPr>
          <a:xfrm>
            <a:off x="8229599" y="1828800"/>
            <a:ext cx="2103122" cy="1828800"/>
            <a:chOff x="0" y="0"/>
            <a:chExt cx="2103120" cy="1828800"/>
          </a:xfrm>
        </p:grpSpPr>
        <p:sp>
          <p:nvSpPr>
            <p:cNvPr id="136" name="Rectangle"/>
            <p:cNvSpPr/>
            <p:nvPr/>
          </p:nvSpPr>
          <p:spPr>
            <a:xfrm>
              <a:off x="-1" y="0"/>
              <a:ext cx="2103122" cy="1828800"/>
            </a:xfrm>
            <a:prstGeom prst="rect">
              <a:avLst/>
            </a:prstGeom>
            <a:solidFill>
              <a:srgbClr val="28283C"/>
            </a:solidFill>
            <a:ln w="9525" cap="flat">
              <a:solidFill>
                <a:srgbClr val="50A0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7" name="A*PO Optimizer…"/>
            <p:cNvSpPr txBox="1"/>
            <p:nvPr/>
          </p:nvSpPr>
          <p:spPr>
            <a:xfrm>
              <a:off x="50482" y="474806"/>
              <a:ext cx="2002156" cy="879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E6E6E6"/>
                  </a:solidFill>
                </a:defRPr>
              </a:pPr>
              <a:r>
                <a:t>A*PO Optimizer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(Advantage, KL Update)</a:t>
              </a:r>
            </a:p>
          </p:txBody>
        </p:sp>
      </p:grpSp>
      <p:sp>
        <p:nvSpPr>
          <p:cNvPr id="139" name="Connector 6"/>
          <p:cNvSpPr/>
          <p:nvPr/>
        </p:nvSpPr>
        <p:spPr>
          <a:xfrm>
            <a:off x="3017520" y="2743200"/>
            <a:ext cx="182881" cy="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Connector 7"/>
          <p:cNvSpPr/>
          <p:nvPr/>
        </p:nvSpPr>
        <p:spPr>
          <a:xfrm>
            <a:off x="5212079" y="2743200"/>
            <a:ext cx="182881" cy="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Connector 8"/>
          <p:cNvSpPr/>
          <p:nvPr/>
        </p:nvSpPr>
        <p:spPr>
          <a:xfrm>
            <a:off x="7955278" y="2743200"/>
            <a:ext cx="182882" cy="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TextBox 9"/>
          <p:cNvSpPr txBox="1"/>
          <p:nvPr/>
        </p:nvSpPr>
        <p:spPr>
          <a:xfrm>
            <a:off x="960119" y="4389120"/>
            <a:ext cx="1091553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 algn="ctr">
              <a:defRPr>
                <a:solidFill>
                  <a:srgbClr val="E6E6E6"/>
                </a:solidFill>
              </a:defRPr>
            </a:pPr>
            <a:r>
              <a:t>Detailed flow: Observation → Tokenization → Policy/Value/Evolution computation → A*PO updates → Refined agent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 txBox="1"/>
          <p:nvPr/>
        </p:nvSpPr>
        <p:spPr>
          <a:xfrm>
            <a:off x="777239" y="457200"/>
            <a:ext cx="7640574" cy="841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600">
                <a:solidFill>
                  <a:srgbClr val="50A0FF"/>
                </a:solidFill>
              </a:defRPr>
            </a:pPr>
            <a:r>
              <a:t>Performance Comparison (Benchmarks)</a:t>
            </a:r>
          </a:p>
        </p:txBody>
      </p:sp>
      <p:graphicFrame>
        <p:nvGraphicFramePr>
          <p:cNvPr id="145" name="Table 2"/>
          <p:cNvGraphicFramePr/>
          <p:nvPr/>
        </p:nvGraphicFramePr>
        <p:xfrm>
          <a:off x="914400" y="1828800"/>
          <a:ext cx="10058400" cy="36576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{2708684C-4D16-4618-839F-0558EEFCDFE6}</a:tableStyleId>
              </a:tblPr>
              <a:tblGrid>
                <a:gridCol w="2011679"/>
                <a:gridCol w="2011679"/>
                <a:gridCol w="2011679"/>
                <a:gridCol w="2011679"/>
                <a:gridCol w="2011679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b="0" sz="1800"/>
                      </a:pPr>
                      <a:r>
                        <a:rPr b="1">
                          <a:solidFill>
                            <a:srgbClr val="50A0FF"/>
                          </a:solidFill>
                        </a:rPr>
                        <a:t>Benchmark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/>
                      </a:pPr>
                      <a:r>
                        <a:rPr b="1">
                          <a:solidFill>
                            <a:srgbClr val="50A0FF"/>
                          </a:solidFill>
                        </a:rPr>
                        <a:t>Metric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/>
                      </a:pPr>
                      <a:r>
                        <a:rPr b="1">
                          <a:solidFill>
                            <a:srgbClr val="50A0FF"/>
                          </a:solidFill>
                        </a:rPr>
                        <a:t>Initial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/>
                      </a:pPr>
                      <a:r>
                        <a:rPr b="1">
                          <a:solidFill>
                            <a:srgbClr val="50A0FF"/>
                          </a:solidFill>
                        </a:rPr>
                        <a:t>After Training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/>
                      </a:pPr>
                      <a:r>
                        <a:rPr b="1">
                          <a:solidFill>
                            <a:srgbClr val="50A0FF"/>
                          </a:solidFill>
                        </a:rPr>
                        <a:t>Improvement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FrozenLake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Success Rate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12%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68%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+56%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FrozenLake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Avg Reward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0.15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0.68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+0.53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WebShop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Success Rate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18%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72%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+54%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WebShop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Avg Reward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0.22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0.74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E6E6E6"/>
                          </a:solidFill>
                        </a:rPr>
                        <a:t>+0.52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