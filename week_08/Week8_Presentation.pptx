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RAGEN + A*PO on WebShop &amp; WebArena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Ordace Lore • Nov 10, 2025 </a:t>
            </a:r>
          </a:p>
        </p:txBody>
      </p:sp>
      <p:sp>
        <p:nvSpPr>
          <p:cNvPr id="96" name="Rectangle 3"/>
          <p:cNvSpPr/>
          <p:nvPr/>
        </p:nvSpPr>
        <p:spPr>
          <a:xfrm>
            <a:off x="0" y="5943600"/>
            <a:ext cx="9144000" cy="228600"/>
          </a:xfrm>
          <a:prstGeom prst="rect">
            <a:avLst/>
          </a:prstGeom>
          <a:solidFill>
            <a:srgbClr val="4285F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EA6"/>
                </a:solidFill>
              </a:defRPr>
            </a:lvl1pPr>
          </a:lstStyle>
          <a:p>
            <a:pPr/>
            <a:r>
              <a:t>Assignment Goals</a:t>
            </a:r>
          </a:p>
        </p:txBody>
      </p:sp>
      <p:sp>
        <p:nvSpPr>
          <p:cNvPr id="9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Replicate WebShop results with our RAGEN + A*PO agent</a:t>
            </a:r>
          </a:p>
          <a:p>
            <a:pPr/>
            <a:r>
              <a:t>Evaluate on WebArena and compare to public leaderboard</a:t>
            </a:r>
          </a:p>
          <a:p>
            <a:pPr/>
            <a:r>
              <a:t>Analyze failure cases and explain underperformance</a:t>
            </a:r>
          </a:p>
          <a:p>
            <a:pPr/>
            <a:r>
              <a:t>Be ready for a quick code change on any module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EA6"/>
                </a:solidFill>
              </a:defRPr>
            </a:lvl1pPr>
          </a:lstStyle>
          <a:p>
            <a:pPr/>
            <a:r>
              <a:t>System Overview (RAGEN + A*PO)</a:t>
            </a:r>
          </a:p>
        </p:txBody>
      </p:sp>
      <p:grpSp>
        <p:nvGrpSpPr>
          <p:cNvPr id="104" name="Rounded Rectangle 2"/>
          <p:cNvGrpSpPr/>
          <p:nvPr/>
        </p:nvGrpSpPr>
        <p:grpSpPr>
          <a:xfrm>
            <a:off x="365759" y="1645920"/>
            <a:ext cx="2560322" cy="1188721"/>
            <a:chOff x="0" y="0"/>
            <a:chExt cx="2560320" cy="1188719"/>
          </a:xfrm>
        </p:grpSpPr>
        <p:sp>
          <p:nvSpPr>
            <p:cNvPr id="102" name="Rounded Rectangle"/>
            <p:cNvSpPr/>
            <p:nvPr/>
          </p:nvSpPr>
          <p:spPr>
            <a:xfrm>
              <a:off x="0" y="0"/>
              <a:ext cx="2560321" cy="1188720"/>
            </a:xfrm>
            <a:prstGeom prst="roundRect">
              <a:avLst>
                <a:gd name="adj" fmla="val 16667"/>
              </a:avLst>
            </a:prstGeom>
            <a:solidFill>
              <a:srgbClr val="F5F8FF"/>
            </a:solidFill>
            <a:ln w="9525" cap="flat">
              <a:solidFill>
                <a:srgbClr val="4285F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3" name="Natural-Language Task…"/>
            <p:cNvSpPr txBox="1"/>
            <p:nvPr/>
          </p:nvSpPr>
          <p:spPr>
            <a:xfrm>
              <a:off x="108511" y="300816"/>
              <a:ext cx="2343298" cy="5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solidFill>
                    <a:srgbClr val="174EA6"/>
                  </a:solidFill>
                </a:defRPr>
              </a:pPr>
              <a:r>
                <a:t>Natural-Language Task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chemeClr val="accent1">
                      <a:lumOff val="23725"/>
                    </a:schemeClr>
                  </a:solidFill>
                </a:defRPr>
              </a:pPr>
              <a:r>
                <a:t>(WebShop / WebArena)</a:t>
              </a:r>
            </a:p>
          </p:txBody>
        </p:sp>
      </p:grpSp>
      <p:grpSp>
        <p:nvGrpSpPr>
          <p:cNvPr id="107" name="Rounded Rectangle 3"/>
          <p:cNvGrpSpPr/>
          <p:nvPr/>
        </p:nvGrpSpPr>
        <p:grpSpPr>
          <a:xfrm>
            <a:off x="3108960" y="1645920"/>
            <a:ext cx="2286001" cy="1188721"/>
            <a:chOff x="0" y="0"/>
            <a:chExt cx="2286000" cy="1188719"/>
          </a:xfrm>
        </p:grpSpPr>
        <p:sp>
          <p:nvSpPr>
            <p:cNvPr id="105" name="Rounded Rectangle"/>
            <p:cNvSpPr/>
            <p:nvPr/>
          </p:nvSpPr>
          <p:spPr>
            <a:xfrm>
              <a:off x="0" y="0"/>
              <a:ext cx="2286000" cy="1188720"/>
            </a:xfrm>
            <a:prstGeom prst="roundRect">
              <a:avLst>
                <a:gd name="adj" fmla="val 16667"/>
              </a:avLst>
            </a:prstGeom>
            <a:solidFill>
              <a:srgbClr val="F5F8FF"/>
            </a:solidFill>
            <a:ln w="9525" cap="flat">
              <a:solidFill>
                <a:srgbClr val="4285F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6" name="Policy πθ (MLP)…"/>
            <p:cNvSpPr txBox="1"/>
            <p:nvPr/>
          </p:nvSpPr>
          <p:spPr>
            <a:xfrm>
              <a:off x="108511" y="300816"/>
              <a:ext cx="2068978" cy="5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solidFill>
                    <a:srgbClr val="174EA6"/>
                  </a:solidFill>
                </a:defRPr>
              </a:pPr>
              <a:r>
                <a:t>Policy πθ (MLP)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chemeClr val="accent1">
                      <a:lumOff val="23725"/>
                    </a:schemeClr>
                  </a:solidFill>
                </a:defRPr>
              </a:pPr>
              <a:r>
                <a:t>State → Action</a:t>
              </a:r>
            </a:p>
          </p:txBody>
        </p:sp>
      </p:grpSp>
      <p:grpSp>
        <p:nvGrpSpPr>
          <p:cNvPr id="110" name="Rounded Rectangle 4"/>
          <p:cNvGrpSpPr/>
          <p:nvPr/>
        </p:nvGrpSpPr>
        <p:grpSpPr>
          <a:xfrm>
            <a:off x="5760720" y="1645920"/>
            <a:ext cx="2560321" cy="1188721"/>
            <a:chOff x="0" y="0"/>
            <a:chExt cx="2560320" cy="1188719"/>
          </a:xfrm>
        </p:grpSpPr>
        <p:sp>
          <p:nvSpPr>
            <p:cNvPr id="108" name="Rounded Rectangle"/>
            <p:cNvSpPr/>
            <p:nvPr/>
          </p:nvSpPr>
          <p:spPr>
            <a:xfrm>
              <a:off x="0" y="0"/>
              <a:ext cx="2560321" cy="1188720"/>
            </a:xfrm>
            <a:prstGeom prst="roundRect">
              <a:avLst>
                <a:gd name="adj" fmla="val 16667"/>
              </a:avLst>
            </a:prstGeom>
            <a:solidFill>
              <a:srgbClr val="F5F8FF"/>
            </a:solidFill>
            <a:ln w="9525" cap="flat">
              <a:solidFill>
                <a:srgbClr val="4285F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9" name="Environment Step…"/>
            <p:cNvSpPr txBox="1"/>
            <p:nvPr/>
          </p:nvSpPr>
          <p:spPr>
            <a:xfrm>
              <a:off x="108511" y="300816"/>
              <a:ext cx="2343298" cy="5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solidFill>
                    <a:srgbClr val="174EA6"/>
                  </a:solidFill>
                </a:defRPr>
              </a:pPr>
              <a:r>
                <a:t>Environment Step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chemeClr val="accent1">
                      <a:lumOff val="23725"/>
                    </a:schemeClr>
                  </a:solidFill>
                </a:defRPr>
              </a:pPr>
              <a:r>
                <a:t>Reward, Next State</a:t>
              </a:r>
            </a:p>
          </p:txBody>
        </p:sp>
      </p:grpSp>
      <p:sp>
        <p:nvSpPr>
          <p:cNvPr id="111" name="Connector 5"/>
          <p:cNvSpPr/>
          <p:nvPr/>
        </p:nvSpPr>
        <p:spPr>
          <a:xfrm>
            <a:off x="2926079" y="2240279"/>
            <a:ext cx="182881" cy="1"/>
          </a:xfrm>
          <a:prstGeom prst="line">
            <a:avLst/>
          </a:prstGeom>
          <a:ln w="25400">
            <a:solidFill>
              <a:srgbClr val="4285F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" name="Connector 6"/>
          <p:cNvSpPr/>
          <p:nvPr/>
        </p:nvSpPr>
        <p:spPr>
          <a:xfrm>
            <a:off x="5394959" y="2240279"/>
            <a:ext cx="365761" cy="1"/>
          </a:xfrm>
          <a:prstGeom prst="line">
            <a:avLst/>
          </a:prstGeom>
          <a:ln w="25400">
            <a:solidFill>
              <a:srgbClr val="4285F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EA6"/>
                </a:solidFill>
              </a:defRPr>
            </a:lvl1pPr>
          </a:lstStyle>
          <a:p>
            <a:pPr/>
            <a:r>
              <a:t>Training Loop (Trajectory-level)</a:t>
            </a:r>
          </a:p>
        </p:txBody>
      </p:sp>
      <p:grpSp>
        <p:nvGrpSpPr>
          <p:cNvPr id="117" name="Rounded Rectangle 2"/>
          <p:cNvGrpSpPr/>
          <p:nvPr/>
        </p:nvGrpSpPr>
        <p:grpSpPr>
          <a:xfrm>
            <a:off x="365759" y="1645920"/>
            <a:ext cx="2468881" cy="1097281"/>
            <a:chOff x="0" y="0"/>
            <a:chExt cx="2468879" cy="1097280"/>
          </a:xfrm>
        </p:grpSpPr>
        <p:sp>
          <p:nvSpPr>
            <p:cNvPr id="115" name="Rounded Rectangle"/>
            <p:cNvSpPr/>
            <p:nvPr/>
          </p:nvSpPr>
          <p:spPr>
            <a:xfrm>
              <a:off x="0" y="0"/>
              <a:ext cx="2468880" cy="1097281"/>
            </a:xfrm>
            <a:prstGeom prst="roundRect">
              <a:avLst>
                <a:gd name="adj" fmla="val 16667"/>
              </a:avLst>
            </a:prstGeom>
            <a:solidFill>
              <a:srgbClr val="F5F8FF"/>
            </a:solidFill>
            <a:ln w="9525" cap="flat">
              <a:solidFill>
                <a:srgbClr val="4285F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6" name="Rollouts…"/>
            <p:cNvSpPr txBox="1"/>
            <p:nvPr/>
          </p:nvSpPr>
          <p:spPr>
            <a:xfrm>
              <a:off x="104047" y="109046"/>
              <a:ext cx="2260786" cy="879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solidFill>
                    <a:srgbClr val="174EA6"/>
                  </a:solidFill>
                </a:defRPr>
              </a:pPr>
              <a:r>
                <a:t>Rollouts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chemeClr val="accent1">
                      <a:lumOff val="23725"/>
                    </a:schemeClr>
                  </a:solidFill>
                </a:defRPr>
              </a:pPr>
              <a:r>
                <a:t>(States, Actions, Rewards)</a:t>
              </a:r>
            </a:p>
          </p:txBody>
        </p:sp>
      </p:grpSp>
      <p:grpSp>
        <p:nvGrpSpPr>
          <p:cNvPr id="120" name="Rounded Rectangle 3"/>
          <p:cNvGrpSpPr/>
          <p:nvPr/>
        </p:nvGrpSpPr>
        <p:grpSpPr>
          <a:xfrm>
            <a:off x="3017520" y="1645920"/>
            <a:ext cx="2468880" cy="1097281"/>
            <a:chOff x="0" y="0"/>
            <a:chExt cx="2468879" cy="1097280"/>
          </a:xfrm>
        </p:grpSpPr>
        <p:sp>
          <p:nvSpPr>
            <p:cNvPr id="118" name="Rounded Rectangle"/>
            <p:cNvSpPr/>
            <p:nvPr/>
          </p:nvSpPr>
          <p:spPr>
            <a:xfrm>
              <a:off x="0" y="0"/>
              <a:ext cx="2468880" cy="1097281"/>
            </a:xfrm>
            <a:prstGeom prst="roundRect">
              <a:avLst>
                <a:gd name="adj" fmla="val 16667"/>
              </a:avLst>
            </a:prstGeom>
            <a:solidFill>
              <a:srgbClr val="F5F8FF"/>
            </a:solidFill>
            <a:ln w="9525" cap="flat">
              <a:solidFill>
                <a:srgbClr val="4285F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9" name="Advantage Estimation…"/>
            <p:cNvSpPr txBox="1"/>
            <p:nvPr/>
          </p:nvSpPr>
          <p:spPr>
            <a:xfrm>
              <a:off x="104047" y="255096"/>
              <a:ext cx="2260786" cy="587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solidFill>
                    <a:srgbClr val="174EA6"/>
                  </a:solidFill>
                </a:defRPr>
              </a:pPr>
              <a:r>
                <a:t>Advantage Estimation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chemeClr val="accent1">
                      <a:lumOff val="23725"/>
                    </a:schemeClr>
                  </a:solidFill>
                </a:defRPr>
              </a:pPr>
              <a:r>
                <a:t>(A*PO objective)</a:t>
              </a:r>
            </a:p>
          </p:txBody>
        </p:sp>
      </p:grpSp>
      <p:grpSp>
        <p:nvGrpSpPr>
          <p:cNvPr id="123" name="Rounded Rectangle 4"/>
          <p:cNvGrpSpPr/>
          <p:nvPr/>
        </p:nvGrpSpPr>
        <p:grpSpPr>
          <a:xfrm>
            <a:off x="5669279" y="1645920"/>
            <a:ext cx="2468881" cy="1097281"/>
            <a:chOff x="0" y="0"/>
            <a:chExt cx="2468879" cy="1097280"/>
          </a:xfrm>
        </p:grpSpPr>
        <p:sp>
          <p:nvSpPr>
            <p:cNvPr id="121" name="Rounded Rectangle"/>
            <p:cNvSpPr/>
            <p:nvPr/>
          </p:nvSpPr>
          <p:spPr>
            <a:xfrm>
              <a:off x="0" y="0"/>
              <a:ext cx="2468880" cy="1097281"/>
            </a:xfrm>
            <a:prstGeom prst="roundRect">
              <a:avLst>
                <a:gd name="adj" fmla="val 16667"/>
              </a:avLst>
            </a:prstGeom>
            <a:solidFill>
              <a:srgbClr val="F5F8FF"/>
            </a:solidFill>
            <a:ln w="9525" cap="flat">
              <a:solidFill>
                <a:srgbClr val="4285F4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Update θ…"/>
            <p:cNvSpPr txBox="1"/>
            <p:nvPr/>
          </p:nvSpPr>
          <p:spPr>
            <a:xfrm>
              <a:off x="104047" y="109046"/>
              <a:ext cx="2260786" cy="879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1600">
                  <a:solidFill>
                    <a:srgbClr val="174EA6"/>
                  </a:solidFill>
                </a:defRPr>
              </a:pPr>
              <a:r>
                <a:t>Update θ</a:t>
              </a:r>
              <a:endParaRPr>
                <a:solidFill>
                  <a:srgbClr val="FFFFFF"/>
                </a:solidFill>
              </a:endParaRPr>
            </a:p>
            <a:p>
              <a:pPr>
                <a:defRPr>
                  <a:solidFill>
                    <a:schemeClr val="accent1">
                      <a:lumOff val="23725"/>
                    </a:schemeClr>
                  </a:solidFill>
                </a:defRPr>
              </a:pPr>
              <a:r>
                <a:t>(Stable KL-regularized step)</a:t>
              </a:r>
            </a:p>
          </p:txBody>
        </p:sp>
      </p:grpSp>
      <p:sp>
        <p:nvSpPr>
          <p:cNvPr id="124" name="Connector 5"/>
          <p:cNvSpPr/>
          <p:nvPr/>
        </p:nvSpPr>
        <p:spPr>
          <a:xfrm>
            <a:off x="2834639" y="2194560"/>
            <a:ext cx="182881" cy="1"/>
          </a:xfrm>
          <a:prstGeom prst="line">
            <a:avLst/>
          </a:prstGeom>
          <a:ln w="25400">
            <a:solidFill>
              <a:srgbClr val="4285F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" name="Connector 6"/>
          <p:cNvSpPr/>
          <p:nvPr/>
        </p:nvSpPr>
        <p:spPr>
          <a:xfrm>
            <a:off x="5486400" y="2194560"/>
            <a:ext cx="182881" cy="1"/>
          </a:xfrm>
          <a:prstGeom prst="line">
            <a:avLst/>
          </a:prstGeom>
          <a:ln w="25400">
            <a:solidFill>
              <a:srgbClr val="4285F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EA6"/>
                </a:solidFill>
              </a:defRPr>
            </a:lvl1pPr>
          </a:lstStyle>
          <a:p>
            <a:pPr/>
            <a:r>
              <a:t>Experimental Setup</a:t>
            </a:r>
          </a:p>
        </p:txBody>
      </p:sp>
      <p:sp>
        <p:nvSpPr>
          <p:cNvPr id="12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Model: 2-layer MLP, 32 hidden dims; random init</a:t>
            </a:r>
          </a:p>
          <a:p>
            <a:pPr/>
            <a:r>
              <a:t>Training: 50 steps (limited budget), mini-batch updates</a:t>
            </a:r>
          </a:p>
          <a:p>
            <a:pPr/>
            <a:r>
              <a:t>Envs: Mock WebShop &amp; WebArena with simplified state/action spaces</a:t>
            </a:r>
          </a:p>
          <a:p>
            <a:pPr/>
            <a:r>
              <a:t>Metrics: Success Rate (%), Avg Reward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EA6"/>
                </a:solidFill>
              </a:defRPr>
            </a:lvl1pPr>
          </a:lstStyle>
          <a:p>
            <a:pPr/>
            <a:r>
              <a:t>Results: WebShop (Our Runs)</a:t>
            </a:r>
          </a:p>
        </p:txBody>
      </p:sp>
      <p:sp>
        <p:nvSpPr>
          <p:cNvPr id="131" name="TextBox 2"/>
          <p:cNvSpPr txBox="1"/>
          <p:nvPr/>
        </p:nvSpPr>
        <p:spPr>
          <a:xfrm>
            <a:off x="502919" y="1097280"/>
            <a:ext cx="504364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3C4043"/>
                </a:solidFill>
              </a:defRPr>
            </a:lvl1pPr>
          </a:lstStyle>
          <a:p>
            <a:pPr/>
            <a:r>
              <a:t>Summary statistics from our reproducible runs with 50 training steps</a:t>
            </a:r>
          </a:p>
        </p:txBody>
      </p:sp>
      <p:graphicFrame>
        <p:nvGraphicFramePr>
          <p:cNvPr id="132" name="Table 3"/>
          <p:cNvGraphicFramePr/>
          <p:nvPr/>
        </p:nvGraphicFramePr>
        <p:xfrm>
          <a:off x="457200" y="1645920"/>
          <a:ext cx="8229600" cy="36576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8288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Avg Reward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Success Rate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Training Steps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4285F4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WebShop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~2–5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~20–40%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50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EA6"/>
                </a:solidFill>
              </a:defRPr>
            </a:lvl1pPr>
          </a:lstStyle>
          <a:p>
            <a:pPr/>
            <a:r>
              <a:t>Results: WebArena (Our Runs)</a:t>
            </a:r>
          </a:p>
        </p:txBody>
      </p:sp>
      <p:sp>
        <p:nvSpPr>
          <p:cNvPr id="135" name="TextBox 2"/>
          <p:cNvSpPr txBox="1"/>
          <p:nvPr/>
        </p:nvSpPr>
        <p:spPr>
          <a:xfrm>
            <a:off x="502919" y="1097280"/>
            <a:ext cx="5043648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3C4043"/>
                </a:solidFill>
              </a:defRPr>
            </a:lvl1pPr>
          </a:lstStyle>
          <a:p>
            <a:pPr/>
            <a:r>
              <a:t>Summary statistics from our reproducible runs with 50 training steps</a:t>
            </a:r>
          </a:p>
        </p:txBody>
      </p:sp>
      <p:graphicFrame>
        <p:nvGraphicFramePr>
          <p:cNvPr id="136" name="Table 3"/>
          <p:cNvGraphicFramePr/>
          <p:nvPr/>
        </p:nvGraphicFramePr>
        <p:xfrm>
          <a:off x="457200" y="1645920"/>
          <a:ext cx="8229600" cy="36576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8288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Avg Reward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Success Rate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Training Steps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4285F4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WebArena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~1–3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~15–30%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50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1"/>
          <p:cNvSpPr txBox="1"/>
          <p:nvPr>
            <p:ph type="title"/>
          </p:nvPr>
        </p:nvSpPr>
        <p:spPr>
          <a:xfrm>
            <a:off x="457200" y="155713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EA6"/>
                </a:solidFill>
              </a:defRPr>
            </a:lvl1pPr>
          </a:lstStyle>
          <a:p>
            <a:pPr/>
            <a:r>
              <a:t>WebArena Leaderboard</a:t>
            </a:r>
          </a:p>
        </p:txBody>
      </p:sp>
      <p:sp>
        <p:nvSpPr>
          <p:cNvPr id="139" name="TextBox 2"/>
          <p:cNvSpPr txBox="1"/>
          <p:nvPr/>
        </p:nvSpPr>
        <p:spPr>
          <a:xfrm>
            <a:off x="502919" y="1097280"/>
            <a:ext cx="383941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3C4043"/>
                </a:solidFill>
              </a:defRPr>
            </a:lvl1pPr>
          </a:lstStyle>
          <a:p>
            <a:pPr/>
            <a:r>
              <a:t>Public sheet snapshot (Oct 2024 – Oct 2025 entries)</a:t>
            </a:r>
          </a:p>
        </p:txBody>
      </p:sp>
      <p:graphicFrame>
        <p:nvGraphicFramePr>
          <p:cNvPr id="140" name="Table 3"/>
          <p:cNvGraphicFramePr/>
          <p:nvPr/>
        </p:nvGraphicFramePr>
        <p:xfrm>
          <a:off x="457200" y="1645920"/>
          <a:ext cx="8229600" cy="36576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114800"/>
                <a:gridCol w="4114800"/>
              </a:tblGrid>
              <a:tr h="6096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Success Rate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4285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Claude Code + GBOX MCP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68.0%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IBM CUGA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61.7%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OpenAI Operator (CUA)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58.1%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AgentSymbiotic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52.1%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Human (selected tasks)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78.24%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EA6"/>
                </a:solidFill>
              </a:defRPr>
            </a:lvl1pPr>
          </a:lstStyle>
          <a:p>
            <a:pPr/>
            <a:r>
              <a:t>Failure Case Examples</a:t>
            </a:r>
          </a:p>
        </p:txBody>
      </p:sp>
      <p:sp>
        <p:nvSpPr>
          <p:cNvPr id="14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05180" indent="-305180" defTabSz="406908">
              <a:spcBef>
                <a:spcPts val="600"/>
              </a:spcBef>
              <a:defRPr sz="2848"/>
            </a:pPr>
            <a:r>
              <a:t>WebShop: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- Picks expensive item when asked for cheap one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- Purchases prematurely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- Times out without task completion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br/>
            <a:r>
              <a:t>WebArena: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- Incorrect click/type sequence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- Gets lost in multi-step tasks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- Fills forms incorrectly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EA6"/>
                </a:solidFill>
              </a:defRPr>
            </a:lvl1pPr>
          </a:lstStyle>
          <a:p>
            <a:pPr/>
            <a:r>
              <a:t>Why Our RAGEN Underperforms</a:t>
            </a:r>
          </a:p>
        </p:txBody>
      </p:sp>
      <p:sp>
        <p:nvSpPr>
          <p:cNvPr id="14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Limited training (50 steps vs. 1k+ in SOTA)</a:t>
            </a:r>
          </a:p>
          <a:p>
            <a:pPr/>
            <a:r>
              <a:t>Small model capacity; no web-specific pretraining</a:t>
            </a:r>
          </a:p>
          <a:p>
            <a:pPr/>
            <a:r>
              <a:t>Simplified envs (no full HTML/DOM parsing, no vision)</a:t>
            </a:r>
          </a:p>
          <a:p>
            <a:pPr/>
            <a:r>
              <a:t>Sparse rewards and long horizons; limited curriculum or shaping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48055">
              <a:defRPr sz="4312">
                <a:solidFill>
                  <a:srgbClr val="174EA6"/>
                </a:solidFill>
              </a:defRPr>
            </a:lvl1pPr>
          </a:lstStyle>
          <a:p>
            <a:pPr/>
            <a:r>
              <a:t>Recommendations for Improvement</a:t>
            </a:r>
          </a:p>
        </p:txBody>
      </p:sp>
      <p:sp>
        <p:nvSpPr>
          <p:cNvPr id="14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32613" indent="-332613" defTabSz="443484">
              <a:defRPr sz="3104"/>
            </a:pPr>
          </a:p>
          <a:p>
            <a:pPr marL="332613" indent="-332613" defTabSz="443484">
              <a:defRPr sz="3104"/>
            </a:pPr>
            <a:r>
              <a:t>• Increase training steps to 100–1000</a:t>
            </a:r>
          </a:p>
          <a:p>
            <a:pPr marL="332613" indent="-332613" defTabSz="443484">
              <a:defRPr sz="3104"/>
            </a:pPr>
            <a:r>
              <a:t>• Use real WebShop/WebArena environments</a:t>
            </a:r>
          </a:p>
          <a:p>
            <a:pPr marL="332613" indent="-332613" defTabSz="443484">
              <a:defRPr sz="3104"/>
            </a:pPr>
            <a:r>
              <a:t>• Larger neural networks (128+ hidden units)</a:t>
            </a:r>
          </a:p>
          <a:p>
            <a:pPr marL="332613" indent="-332613" defTabSz="443484">
              <a:defRPr sz="3104"/>
            </a:pPr>
            <a:r>
              <a:t>• Pretrain on web data for better initialization</a:t>
            </a:r>
          </a:p>
          <a:p>
            <a:pPr marL="332613" indent="-332613" defTabSz="443484">
              <a:defRPr sz="3104"/>
            </a:pPr>
            <a:r>
              <a:t>• Add HTML parsing and visual grounding</a:t>
            </a:r>
          </a:p>
          <a:p>
            <a:pPr marL="332613" indent="-332613" defTabSz="443484">
              <a:defRPr sz="3104"/>
            </a:pPr>
            <a:r>
              <a:t>• Implement reward shaping and curriculum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EA6"/>
                </a:solidFill>
              </a:defRPr>
            </a:lvl1pPr>
          </a:lstStyle>
          <a:p>
            <a:pPr/>
            <a:r>
              <a:t>Code Structure</a:t>
            </a:r>
          </a:p>
        </p:txBody>
      </p:sp>
      <p:sp>
        <p:nvSpPr>
          <p:cNvPr id="15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ragen.py – Training + evaluation loop</a:t>
            </a:r>
          </a:p>
          <a:p>
            <a:pPr/>
            <a:r>
              <a:t>policy.py – Policy network</a:t>
            </a:r>
          </a:p>
          <a:p>
            <a:pPr/>
            <a:r>
              <a:t>astar_po.py – A*PO loss computation</a:t>
            </a:r>
          </a:p>
          <a:p>
            <a:pPr/>
            <a:r>
              <a:t>webshop.py – Mock WebShop environment</a:t>
            </a:r>
          </a:p>
          <a:p>
            <a:pPr/>
            <a:r>
              <a:t>webarena.py – Mock WebArena environment</a:t>
            </a:r>
          </a:p>
          <a:p>
            <a:pPr/>
            <a:r>
              <a:t>evaluate.py – Evaluation and metrics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